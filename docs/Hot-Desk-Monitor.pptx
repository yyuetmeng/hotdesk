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e448b3a-ddfe-adda-e6b3-0859ca709e6d}">
          <p14:sldIdLst>
            <p14:sldId id="256"/>
          </p14:sldIdLst>
        </p14:section>
        <p14:section name="Seat requests" id="{9e1c33a8-5d1a-b692-0998-b3491310f116}">
          <p14:sldIdLst>
            <p14:sldId id="257"/>
          </p14:sldIdLst>
        </p14:section>
        <p14:section name="Overview" id="{793e23b9-2133-a41f-247e-c8eb007551e9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the solution, a typical morning at DIC Annex.
9:05: someone arrives and every desk looks taken, but it is a bag, a jacket or a sticky note; nobody is actually sitting there.
Crowded: one zone, here the Digital Factory, is packed because teams squeeze in where they always sit; latecomers from the same project have nowhere to go.
Empty: at the same time another zone, here the AI Lab, is almost empty, a short walk away, but nobody knows.
Scattered: teammates end up on different floors and spend time on the phone working out where everyone is.
The cost: time lost every morning, teams kept apart, and space that is crowded in one place and empty in another. Next: the same problem from the office administrator’s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problem, seen from the office administrator’s desk.
Monday 9:00: requests come in from teams starting new projects or taking on joiners, e.g. SAP wants 12 seats, DDAP 6 more, ITGC has 8 joiners next week.
Head count: the only way to check is to walk the floor, and a count can’t tell a bag from a person, or a busy Tuesday from a quiet Friday.
The spreadsheet: the seat plan was last updated months ago, so it doesn’t say how many desks are really used.
So the answer is “let me get back to you”: either a team is turned away from space that is actually free, or squeezed onto a floor that is already full.
Next slide: how Hot Desk Monitor fixes these, including usage insights and the what-if planner for new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desking only works if people can find a free desk quickly and desks are not blocked by people who are not using them. Hot Desk Monitor tackles five pains.
1. Hunting for a free desk: instead of walking the floors, people see free desks on the live floor plan, on the office wall display, or on their phone.
2. Ghost desks: desks held by a bag, or booked and never used. Under-desk sensors see when someone leaves; the desk frees itself 20 minutes later. Reservations nobody checks in to are released 30 minutes after the slot starts, and check-ins expire unless renewed.
3. Teams scattered: occupied desks are coloured by project team, team leads can book several seats together, projects can have pre-allocated seats, and the colleague finder shows who is in and where.
4. Guesswork on space: the dashboard shows utilisation by zone and project team, and the busiest days.
5. A new project team asks for seats, and the administrator cannot tell whether the floor can take them. The Insights page has a what-if planner: add the new team's headcount (or change the seats) and it shows how many people would be left without a seat on busy days and how many seats are needed, alongside a capacity outlook. Insights currently run on simulated data until real sensor and check-in data builds up.
Key figures: 125 desks on 2 floors at DIC Annex, 8 project teams, 20 minutes to free an empty desk, 3-hour default check-in. It deploys to AWS from GitHub and can be demoed in GitHub Codespaces.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desking today: the daily desk hunt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 our project teams run into at DIC Annex when nobody can see which desks are really free.</a:t>
            </a:r>
            <a:endParaRPr lang="en-US" sz="1600" dirty="0"/>
          </a:p>
        </p:txBody>
      </p:sp>
      <p:pic>
        <p:nvPicPr>
          <p:cNvPr id="5" name="Cartoon panel 1" descr="Panel 1, 9:05 AM: a worried SAP team member with a laptop walks past desks claimed by a bag, a jacket and a &quot;Mine!&quot; sticky note, thinking &quot;Every desk is taken…?&quot;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2670048" cy="3115056"/>
          </a:xfrm>
          <a:prstGeom prst="rect">
            <a:avLst/>
          </a:prstGeom>
        </p:spPr>
      </p:pic>
      <p:sp>
        <p:nvSpPr>
          <p:cNvPr id="6" name="Panel caption 1"/>
          <p:cNvSpPr txBox="1"/>
          <p:nvPr/>
        </p:nvSpPr>
        <p:spPr>
          <a:xfrm>
            <a:off x="457200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Desks look taken (a bag here, a jacket there) but nobody is sitting at them.</a:t>
            </a:r>
            <a:endParaRPr lang="en-US" sz="1400" dirty="0"/>
          </a:p>
        </p:txBody>
      </p:sp>
      <p:pic>
        <p:nvPicPr>
          <p:cNvPr id="7" name="Cartoon panel 2" descr="Panel 2, Crowded: the Digital Factory is full, two people stand waiting, and an SAP team member throws up their arms: &quot;No seat for SAP!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68" y="1691640"/>
            <a:ext cx="2670048" cy="3115056"/>
          </a:xfrm>
          <a:prstGeom prst="rect">
            <a:avLst/>
          </a:prstGeom>
        </p:spPr>
      </p:pic>
      <p:sp>
        <p:nvSpPr>
          <p:cNvPr id="8" name="Panel caption 2"/>
          <p:cNvSpPr txBox="1"/>
          <p:nvPr/>
        </p:nvSpPr>
        <p:spPr>
          <a:xfrm>
            <a:off x="3325368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zone is packed, and teammates who arrive later have nowhere to sit.</a:t>
            </a:r>
            <a:endParaRPr lang="en-US" sz="1400" dirty="0"/>
          </a:p>
        </p:txBody>
      </p:sp>
      <p:pic>
        <p:nvPicPr>
          <p:cNvPr id="9" name="Cartoon panel 3" descr="Panel 3, …and empty: the AI Lab has empty desks, a cobweb, a plant and a tumbleweed rolling past, with only &quot;chirp… chirp…&quot;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536" y="1691640"/>
            <a:ext cx="2670048" cy="3115056"/>
          </a:xfrm>
          <a:prstGeom prst="rect">
            <a:avLst/>
          </a:prstGeom>
        </p:spPr>
      </p:pic>
      <p:sp>
        <p:nvSpPr>
          <p:cNvPr id="10" name="Panel caption 3"/>
          <p:cNvSpPr txBox="1"/>
          <p:nvPr/>
        </p:nvSpPr>
        <p:spPr>
          <a:xfrm>
            <a:off x="6193536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Meanwhile another zone sits empty, a short walk away.</a:t>
            </a:r>
            <a:endParaRPr lang="en-US" sz="1400" dirty="0"/>
          </a:p>
        </p:txBody>
      </p:sp>
      <p:pic>
        <p:nvPicPr>
          <p:cNvPr id="11" name="Cartoon panel 4" descr="Panel 4, Scattered: two External team members on the phone on different floors: &quot;Where's the team today?&quot; &quot;No idea, I just got here!&quot;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704" y="1691640"/>
            <a:ext cx="2670048" cy="3115056"/>
          </a:xfrm>
          <a:prstGeom prst="rect">
            <a:avLst/>
          </a:prstGeom>
        </p:spPr>
      </p:pic>
      <p:sp>
        <p:nvSpPr>
          <p:cNvPr id="12" name="Panel caption 4"/>
          <p:cNvSpPr txBox="1"/>
          <p:nvPr/>
        </p:nvSpPr>
        <p:spPr>
          <a:xfrm>
            <a:off x="9061704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Teammates end up scattered and can’t find each other.</a:t>
            </a:r>
            <a:endParaRPr lang="en-US" sz="1400" dirty="0"/>
          </a:p>
        </p:txBody>
      </p:sp>
      <p:sp>
        <p:nvSpPr>
          <p:cNvPr id="13" name="Takeaway card"/>
          <p:cNvSpPr/>
          <p:nvPr/>
        </p:nvSpPr>
        <p:spPr>
          <a:xfrm>
            <a:off x="457200" y="5760720"/>
            <a:ext cx="11274552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12000"/>
            </a:schemeClr>
          </a:solidFill>
          <a:ln w="12700">
            <a:solidFill>
              <a:schemeClr val="accent6">
                <a:alpha val="12000"/>
              </a:schemeClr>
            </a:solidFill>
            <a:prstDash val="solid"/>
          </a:ln>
        </p:spPr>
      </p:sp>
      <p:sp>
        <p:nvSpPr>
          <p:cNvPr id="14" name="Takeaway"/>
          <p:cNvSpPr txBox="1"/>
          <p:nvPr/>
        </p:nvSpPr>
        <p:spPr>
          <a:xfrm>
            <a:off x="685800" y="5760720"/>
            <a:ext cx="10835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The cost: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time lost hunting for desks, teams kept apart, and space crowded in one zone while another sits empty.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Seat requests: can we fit another team?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What the office administrator faces when a new project team asks for desks.</a:t>
            </a:r>
            <a:endParaRPr lang="en-US" sz="1600" dirty="0"/>
          </a:p>
        </p:txBody>
      </p:sp>
      <p:pic>
        <p:nvPicPr>
          <p:cNvPr id="5" name="Cartoon panel 1" descr="Panel 1, Monday 9:00: the administrator at their desk faces an inbox of three seat requests (SAP: 12 seats for a new project; DDAP: 6 more desks; ITGC: 8 joiners next week), thinking &quot;Where do I put them all?&quot;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2670048" cy="3115056"/>
          </a:xfrm>
          <a:prstGeom prst="rect">
            <a:avLst/>
          </a:prstGeom>
        </p:spPr>
      </p:pic>
      <p:sp>
        <p:nvSpPr>
          <p:cNvPr id="6" name="Panel caption 1"/>
          <p:cNvSpPr txBox="1"/>
          <p:nvPr/>
        </p:nvSpPr>
        <p:spPr>
          <a:xfrm>
            <a:off x="457200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Seat requests pile up from teams with new projects and joiners.</a:t>
            </a:r>
            <a:endParaRPr lang="en-US" sz="1400" dirty="0"/>
          </a:p>
        </p:txBody>
      </p:sp>
      <p:pic>
        <p:nvPicPr>
          <p:cNvPr id="7" name="Cartoon panel 2" descr="Panel 2, Head count: the administrator walks the floor with a tally clipboard past occupied, bag-claimed and empty desks, thinking &quot;Full? Half empty?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68" y="1691640"/>
            <a:ext cx="2670048" cy="3115056"/>
          </a:xfrm>
          <a:prstGeom prst="rect">
            <a:avLst/>
          </a:prstGeom>
        </p:spPr>
      </p:pic>
      <p:sp>
        <p:nvSpPr>
          <p:cNvPr id="8" name="Panel caption 2"/>
          <p:cNvSpPr txBox="1"/>
          <p:nvPr/>
        </p:nvSpPr>
        <p:spPr>
          <a:xfrm>
            <a:off x="3325368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walk-round count can’t tell a bag from a person, or a busy day from a quiet one.</a:t>
            </a:r>
            <a:endParaRPr lang="en-US" sz="1400" dirty="0"/>
          </a:p>
        </p:txBody>
      </p:sp>
      <p:pic>
        <p:nvPicPr>
          <p:cNvPr id="9" name="Cartoon panel 3" descr="Panel 3, The spreadsheet: a &quot;Seat plan.xlsx&quot; grid full of question marks with a &quot;March!&quot; sticky note; the administrator scratches their head: &quot;Is this even up to date?&quot;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536" y="1691640"/>
            <a:ext cx="2670048" cy="3115056"/>
          </a:xfrm>
          <a:prstGeom prst="rect">
            <a:avLst/>
          </a:prstGeom>
        </p:spPr>
      </p:pic>
      <p:sp>
        <p:nvSpPr>
          <p:cNvPr id="10" name="Panel caption 3"/>
          <p:cNvSpPr txBox="1"/>
          <p:nvPr/>
        </p:nvSpPr>
        <p:spPr>
          <a:xfrm>
            <a:off x="6193536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seat plan spreadsheet is months out of date.</a:t>
            </a:r>
            <a:endParaRPr lang="en-US" sz="1400" dirty="0"/>
          </a:p>
        </p:txBody>
      </p:sp>
      <p:pic>
        <p:nvPicPr>
          <p:cNvPr id="11" name="Cartoon panel 4" descr="Panel 4, Yes… no… maybe?: a DDAP team lead on the phone asks &quot;Can we move in Monday?&quot; and the administrator replies &quot;Let me get back to you…&quot;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704" y="1691640"/>
            <a:ext cx="2670048" cy="3115056"/>
          </a:xfrm>
          <a:prstGeom prst="rect">
            <a:avLst/>
          </a:prstGeom>
        </p:spPr>
      </p:pic>
      <p:sp>
        <p:nvSpPr>
          <p:cNvPr id="12" name="Panel caption 4"/>
          <p:cNvSpPr txBox="1"/>
          <p:nvPr/>
        </p:nvSpPr>
        <p:spPr>
          <a:xfrm>
            <a:off x="9061704" y="4934712"/>
            <a:ext cx="2670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 the team gets a “maybe” instead of an answer.</a:t>
            </a:r>
            <a:endParaRPr lang="en-US" sz="1400" dirty="0"/>
          </a:p>
        </p:txBody>
      </p:sp>
      <p:sp>
        <p:nvSpPr>
          <p:cNvPr id="13" name="Takeaway card"/>
          <p:cNvSpPr/>
          <p:nvPr/>
        </p:nvSpPr>
        <p:spPr>
          <a:xfrm>
            <a:off x="457200" y="5760720"/>
            <a:ext cx="11274552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12000"/>
            </a:schemeClr>
          </a:solidFill>
          <a:ln w="12700">
            <a:solidFill>
              <a:schemeClr val="accent6">
                <a:alpha val="12000"/>
              </a:schemeClr>
            </a:solidFill>
            <a:prstDash val="solid"/>
          </a:ln>
        </p:spPr>
      </p:sp>
      <p:sp>
        <p:nvSpPr>
          <p:cNvPr id="14" name="Takeaway"/>
          <p:cNvSpPr txBox="1"/>
          <p:nvPr/>
        </p:nvSpPr>
        <p:spPr>
          <a:xfrm>
            <a:off x="685800" y="5760720"/>
            <a:ext cx="10835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The cost: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slow, gut-feel answers: teams turned away from space that is actually free, or squeezed onto a floor that is already full.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 Monitor: taking the pain out of hot desking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Live sensor and check-in data for DIC Annex’s 125 hot desks, so people find a desk fast and desks never sit blocked.</a:t>
            </a:r>
            <a:endParaRPr lang="en-US" sz="1600" dirty="0"/>
          </a:p>
        </p:txBody>
      </p:sp>
      <p:sp>
        <p:nvSpPr>
          <p:cNvPr id="5" name="Pain heading"/>
          <p:cNvSpPr txBox="1"/>
          <p:nvPr/>
        </p:nvSpPr>
        <p:spPr>
          <a:xfrm>
            <a:off x="621792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THE PAIN</a:t>
            </a:r>
            <a:endParaRPr lang="en-US" sz="1100" dirty="0"/>
          </a:p>
        </p:txBody>
      </p:sp>
      <p:sp>
        <p:nvSpPr>
          <p:cNvPr id="6" name="Fix heading"/>
          <p:cNvSpPr txBox="1"/>
          <p:nvPr/>
        </p:nvSpPr>
        <p:spPr>
          <a:xfrm>
            <a:off x="4041648" y="17556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WHAT HOT DESK MONITOR DOES</a:t>
            </a:r>
            <a:endParaRPr lang="en-US" sz="1100" dirty="0"/>
          </a:p>
        </p:txBody>
      </p:sp>
      <p:sp>
        <p:nvSpPr>
          <p:cNvPr id="7" name="Row 1"/>
          <p:cNvSpPr/>
          <p:nvPr/>
        </p:nvSpPr>
        <p:spPr>
          <a:xfrm>
            <a:off x="457200" y="2057400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in icon circle 1"/>
          <p:cNvSpPr/>
          <p:nvPr/>
        </p:nvSpPr>
        <p:spPr>
          <a:xfrm>
            <a:off x="621792" y="2212848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9" name="Pain icon 1" descr="Hunting for a free des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313432"/>
            <a:ext cx="274320" cy="274320"/>
          </a:xfrm>
          <a:prstGeom prst="rect">
            <a:avLst/>
          </a:prstGeom>
        </p:spPr>
      </p:pic>
      <p:sp>
        <p:nvSpPr>
          <p:cNvPr id="10" name="Pain 1"/>
          <p:cNvSpPr txBox="1"/>
          <p:nvPr/>
        </p:nvSpPr>
        <p:spPr>
          <a:xfrm>
            <a:off x="1243584" y="2103120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Hunting for a free desk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Walking the floors to find a seat</a:t>
            </a:r>
            <a:endParaRPr lang="en-US" sz="1500" dirty="0"/>
          </a:p>
        </p:txBody>
      </p:sp>
      <p:sp>
        <p:nvSpPr>
          <p:cNvPr id="11" name="Arrow 1"/>
          <p:cNvSpPr/>
          <p:nvPr/>
        </p:nvSpPr>
        <p:spPr>
          <a:xfrm>
            <a:off x="3593592" y="2340864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ix icon circle 1"/>
          <p:cNvSpPr/>
          <p:nvPr/>
        </p:nvSpPr>
        <p:spPr>
          <a:xfrm>
            <a:off x="4041648" y="22128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Fix icon 1" descr="Live floor pla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313432"/>
            <a:ext cx="274320" cy="274320"/>
          </a:xfrm>
          <a:prstGeom prst="rect">
            <a:avLst/>
          </a:prstGeom>
        </p:spPr>
      </p:pic>
      <p:sp>
        <p:nvSpPr>
          <p:cNvPr id="14" name="Fix 1"/>
          <p:cNvSpPr txBox="1"/>
          <p:nvPr/>
        </p:nvSpPr>
        <p:spPr>
          <a:xfrm>
            <a:off x="4663440" y="2103120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Live floor plan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 desks on screen, wall display and phone</a:t>
            </a:r>
            <a:endParaRPr lang="en-US" sz="1500" dirty="0"/>
          </a:p>
        </p:txBody>
      </p:sp>
      <p:sp>
        <p:nvSpPr>
          <p:cNvPr id="15" name="Row 2"/>
          <p:cNvSpPr/>
          <p:nvPr/>
        </p:nvSpPr>
        <p:spPr>
          <a:xfrm>
            <a:off x="457200" y="2930652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in icon circle 2"/>
          <p:cNvSpPr/>
          <p:nvPr/>
        </p:nvSpPr>
        <p:spPr>
          <a:xfrm>
            <a:off x="621792" y="3086100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17" name="Pain icon 2" descr="Ghost desk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186684"/>
            <a:ext cx="274320" cy="274320"/>
          </a:xfrm>
          <a:prstGeom prst="rect">
            <a:avLst/>
          </a:prstGeom>
        </p:spPr>
      </p:pic>
      <p:sp>
        <p:nvSpPr>
          <p:cNvPr id="18" name="Pain 2"/>
          <p:cNvSpPr txBox="1"/>
          <p:nvPr/>
        </p:nvSpPr>
        <p:spPr>
          <a:xfrm>
            <a:off x="1243584" y="2976372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Ghost desks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Held by a bag, or booked and never used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3593592" y="3214116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Fix icon circle 2"/>
          <p:cNvSpPr/>
          <p:nvPr/>
        </p:nvSpPr>
        <p:spPr>
          <a:xfrm>
            <a:off x="4041648" y="308610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Fix icon 2" descr="Automatic relea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186684"/>
            <a:ext cx="274320" cy="274320"/>
          </a:xfrm>
          <a:prstGeom prst="rect">
            <a:avLst/>
          </a:prstGeom>
        </p:spPr>
      </p:pic>
      <p:sp>
        <p:nvSpPr>
          <p:cNvPr id="22" name="Fix 2"/>
          <p:cNvSpPr txBox="1"/>
          <p:nvPr/>
        </p:nvSpPr>
        <p:spPr>
          <a:xfrm>
            <a:off x="4663440" y="2976372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release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Freed 20 min after people leave; no-shows after 30</a:t>
            </a:r>
            <a:endParaRPr lang="en-US" sz="1500" dirty="0"/>
          </a:p>
        </p:txBody>
      </p:sp>
      <p:sp>
        <p:nvSpPr>
          <p:cNvPr id="23" name="Row 3"/>
          <p:cNvSpPr/>
          <p:nvPr/>
        </p:nvSpPr>
        <p:spPr>
          <a:xfrm>
            <a:off x="457200" y="3803904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in icon circle 3"/>
          <p:cNvSpPr/>
          <p:nvPr/>
        </p:nvSpPr>
        <p:spPr>
          <a:xfrm>
            <a:off x="621792" y="395935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25" name="Pain icon 3" descr="Teams scattere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059936"/>
            <a:ext cx="274320" cy="274320"/>
          </a:xfrm>
          <a:prstGeom prst="rect">
            <a:avLst/>
          </a:prstGeom>
        </p:spPr>
      </p:pic>
      <p:sp>
        <p:nvSpPr>
          <p:cNvPr id="26" name="Pain 3"/>
          <p:cNvSpPr txBox="1"/>
          <p:nvPr/>
        </p:nvSpPr>
        <p:spPr>
          <a:xfrm>
            <a:off x="1243584" y="3849624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Teams scattered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Hard to sit together or find colleagues</a:t>
            </a:r>
            <a:endParaRPr lang="en-US" sz="1500" dirty="0"/>
          </a:p>
        </p:txBody>
      </p:sp>
      <p:sp>
        <p:nvSpPr>
          <p:cNvPr id="27" name="Arrow 3"/>
          <p:cNvSpPr/>
          <p:nvPr/>
        </p:nvSpPr>
        <p:spPr>
          <a:xfrm>
            <a:off x="3593592" y="408736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ix icon circle 3"/>
          <p:cNvSpPr/>
          <p:nvPr/>
        </p:nvSpPr>
        <p:spPr>
          <a:xfrm>
            <a:off x="4041648" y="395935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Fix icon 3" descr="Team seat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32" y="4059936"/>
            <a:ext cx="274320" cy="274320"/>
          </a:xfrm>
          <a:prstGeom prst="rect">
            <a:avLst/>
          </a:prstGeom>
        </p:spPr>
      </p:pic>
      <p:sp>
        <p:nvSpPr>
          <p:cNvPr id="30" name="Fix 3"/>
          <p:cNvSpPr txBox="1"/>
          <p:nvPr/>
        </p:nvSpPr>
        <p:spPr>
          <a:xfrm>
            <a:off x="4663440" y="3849624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 seating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Team colours, team bookings, colleague finder</a:t>
            </a:r>
            <a:endParaRPr lang="en-US" sz="1500" dirty="0"/>
          </a:p>
        </p:txBody>
      </p:sp>
      <p:sp>
        <p:nvSpPr>
          <p:cNvPr id="31" name="Row 4"/>
          <p:cNvSpPr/>
          <p:nvPr/>
        </p:nvSpPr>
        <p:spPr>
          <a:xfrm>
            <a:off x="457200" y="4677156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in icon circle 4"/>
          <p:cNvSpPr/>
          <p:nvPr/>
        </p:nvSpPr>
        <p:spPr>
          <a:xfrm>
            <a:off x="621792" y="4832604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33" name="Pain icon 4" descr="Guesswork on spac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" y="4933188"/>
            <a:ext cx="274320" cy="274320"/>
          </a:xfrm>
          <a:prstGeom prst="rect">
            <a:avLst/>
          </a:prstGeom>
        </p:spPr>
      </p:pic>
      <p:sp>
        <p:nvSpPr>
          <p:cNvPr id="34" name="Pain 4"/>
          <p:cNvSpPr txBox="1"/>
          <p:nvPr/>
        </p:nvSpPr>
        <p:spPr>
          <a:xfrm>
            <a:off x="1243584" y="4722876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Guesswork on space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No data on how desks are really used</a:t>
            </a:r>
            <a:endParaRPr lang="en-US" sz="1500" dirty="0"/>
          </a:p>
        </p:txBody>
      </p:sp>
      <p:sp>
        <p:nvSpPr>
          <p:cNvPr id="35" name="Arrow 4"/>
          <p:cNvSpPr/>
          <p:nvPr/>
        </p:nvSpPr>
        <p:spPr>
          <a:xfrm>
            <a:off x="3593592" y="4960620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Fix icon circle 4"/>
          <p:cNvSpPr/>
          <p:nvPr/>
        </p:nvSpPr>
        <p:spPr>
          <a:xfrm>
            <a:off x="4041648" y="4832604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Fix icon 4" descr="Usage insight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4933188"/>
            <a:ext cx="274320" cy="274320"/>
          </a:xfrm>
          <a:prstGeom prst="rect">
            <a:avLst/>
          </a:prstGeom>
        </p:spPr>
      </p:pic>
      <p:sp>
        <p:nvSpPr>
          <p:cNvPr id="38" name="Fix 4"/>
          <p:cNvSpPr txBox="1"/>
          <p:nvPr/>
        </p:nvSpPr>
        <p:spPr>
          <a:xfrm>
            <a:off x="4663440" y="4722876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Usage insights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Utilisation by zone and team, busiest days</a:t>
            </a:r>
            <a:endParaRPr lang="en-US" sz="1500" dirty="0"/>
          </a:p>
        </p:txBody>
      </p:sp>
      <p:sp>
        <p:nvSpPr>
          <p:cNvPr id="39" name="Row 5"/>
          <p:cNvSpPr/>
          <p:nvPr/>
        </p:nvSpPr>
        <p:spPr>
          <a:xfrm>
            <a:off x="457200" y="5550408"/>
            <a:ext cx="6720840" cy="786384"/>
          </a:xfrm>
          <a:prstGeom prst="roundRect">
            <a:avLst>
              <a:gd name="adj" fmla="val 116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Pain icon circle 5"/>
          <p:cNvSpPr/>
          <p:nvPr/>
        </p:nvSpPr>
        <p:spPr>
          <a:xfrm>
            <a:off x="621792" y="5705856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41" name="Pain icon 5" descr="New team asks for seats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376" y="5806440"/>
            <a:ext cx="274320" cy="274320"/>
          </a:xfrm>
          <a:prstGeom prst="rect">
            <a:avLst/>
          </a:prstGeom>
        </p:spPr>
      </p:pic>
      <p:sp>
        <p:nvSpPr>
          <p:cNvPr id="42" name="Pain 5"/>
          <p:cNvSpPr txBox="1"/>
          <p:nvPr/>
        </p:nvSpPr>
        <p:spPr>
          <a:xfrm>
            <a:off x="1243584" y="5596128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New team asks for seats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Admin can’t tell if the floor can take them</a:t>
            </a:r>
            <a:endParaRPr lang="en-US" sz="1500" dirty="0"/>
          </a:p>
        </p:txBody>
      </p:sp>
      <p:sp>
        <p:nvSpPr>
          <p:cNvPr id="43" name="Arrow 5"/>
          <p:cNvSpPr/>
          <p:nvPr/>
        </p:nvSpPr>
        <p:spPr>
          <a:xfrm>
            <a:off x="3593592" y="5833872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Fix icon circle 5"/>
          <p:cNvSpPr/>
          <p:nvPr/>
        </p:nvSpPr>
        <p:spPr>
          <a:xfrm>
            <a:off x="4041648" y="570585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Fix icon 5" descr="What-if planner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42232" y="5806440"/>
            <a:ext cx="274320" cy="274320"/>
          </a:xfrm>
          <a:prstGeom prst="rect">
            <a:avLst/>
          </a:prstGeom>
        </p:spPr>
      </p:pic>
      <p:sp>
        <p:nvSpPr>
          <p:cNvPr id="46" name="Fix 5"/>
          <p:cNvSpPr txBox="1"/>
          <p:nvPr/>
        </p:nvSpPr>
        <p:spPr>
          <a:xfrm>
            <a:off x="4663440" y="5596128"/>
            <a:ext cx="2395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What-if planner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Add their headcount, see if seats run out</a:t>
            </a:r>
            <a:endParaRPr lang="en-US" sz="1500" dirty="0"/>
          </a:p>
        </p:txBody>
      </p:sp>
      <p:sp>
        <p:nvSpPr>
          <p:cNvPr id="47" name="Screenshot frame"/>
          <p:cNvSpPr/>
          <p:nvPr/>
        </p:nvSpPr>
        <p:spPr>
          <a:xfrm>
            <a:off x="7452360" y="1783080"/>
            <a:ext cx="4325112" cy="2737485"/>
          </a:xfrm>
          <a:prstGeom prst="roundRect">
            <a:avLst>
              <a:gd name="adj" fmla="val 2004"/>
            </a:avLst>
          </a:prstGeom>
          <a:solidFill>
            <a:schemeClr val="bg2"/>
          </a:solidFill>
          <a:ln w="9525">
            <a:solidFill>
              <a:srgbClr val="D6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0F1E3D">
                <a:alpha val="18000"/>
              </a:srgbClr>
            </a:outerShdw>
          </a:effectLst>
        </p:spPr>
      </p:sp>
      <p:pic>
        <p:nvPicPr>
          <p:cNvPr id="48" name="Dashboard screenshot" descr="Admin dashboard: live floor plan coloured by project team, KPI cards and the colleague find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0" y="1828800"/>
            <a:ext cx="4233672" cy="2646045"/>
          </a:xfrm>
          <a:prstGeom prst="rect">
            <a:avLst/>
          </a:prstGeom>
        </p:spPr>
      </p:pic>
      <p:sp>
        <p:nvSpPr>
          <p:cNvPr id="49" name="Screenshot caption"/>
          <p:cNvSpPr txBox="1"/>
          <p:nvPr/>
        </p:nvSpPr>
        <p:spPr>
          <a:xfrm>
            <a:off x="7498080" y="4584573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dashboard (demo data), coloured by project team</a:t>
            </a:r>
            <a:endParaRPr lang="en-US" sz="1100" dirty="0"/>
          </a:p>
        </p:txBody>
      </p:sp>
      <p:sp>
        <p:nvSpPr>
          <p:cNvPr id="50" name="Figure card 1"/>
          <p:cNvSpPr/>
          <p:nvPr/>
        </p:nvSpPr>
        <p:spPr>
          <a:xfrm>
            <a:off x="7498080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Figure 1"/>
          <p:cNvSpPr txBox="1"/>
          <p:nvPr/>
        </p:nvSpPr>
        <p:spPr>
          <a:xfrm>
            <a:off x="7662672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125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desks on 2 floors</a:t>
            </a:r>
            <a:endParaRPr lang="en-US" sz="2200" dirty="0"/>
          </a:p>
        </p:txBody>
      </p:sp>
      <p:sp>
        <p:nvSpPr>
          <p:cNvPr id="52" name="Figure card 2"/>
          <p:cNvSpPr/>
          <p:nvPr/>
        </p:nvSpPr>
        <p:spPr>
          <a:xfrm>
            <a:off x="9706356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Figure 2"/>
          <p:cNvSpPr txBox="1"/>
          <p:nvPr/>
        </p:nvSpPr>
        <p:spPr>
          <a:xfrm>
            <a:off x="9870948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project teams</a:t>
            </a:r>
            <a:endParaRPr lang="en-US" sz="2200" dirty="0"/>
          </a:p>
        </p:txBody>
      </p:sp>
      <p:sp>
        <p:nvSpPr>
          <p:cNvPr id="54" name="Figure card 3"/>
          <p:cNvSpPr/>
          <p:nvPr/>
        </p:nvSpPr>
        <p:spPr>
          <a:xfrm>
            <a:off x="7498080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Figure 3"/>
          <p:cNvSpPr txBox="1"/>
          <p:nvPr/>
        </p:nvSpPr>
        <p:spPr>
          <a:xfrm>
            <a:off x="7662672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 free an empty desk</a:t>
            </a:r>
            <a:endParaRPr lang="en-US" sz="2200" dirty="0"/>
          </a:p>
        </p:txBody>
      </p:sp>
      <p:sp>
        <p:nvSpPr>
          <p:cNvPr id="56" name="Figure card 4"/>
          <p:cNvSpPr/>
          <p:nvPr/>
        </p:nvSpPr>
        <p:spPr>
          <a:xfrm>
            <a:off x="9706356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Figure 4"/>
          <p:cNvSpPr txBox="1"/>
          <p:nvPr/>
        </p:nvSpPr>
        <p:spPr>
          <a:xfrm>
            <a:off x="9870948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h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default check-in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t Desk Monitor">
  <a:themeElements>
    <a:clrScheme name="Hot Desk Monitor">
      <a:dk1>
        <a:srgbClr val="0F1E3D"/>
      </a:dk1>
      <a:lt1>
        <a:srgbClr val="FFFFFF"/>
      </a:lt1>
      <a:dk2>
        <a:srgbClr val="475569"/>
      </a:dk2>
      <a:lt2>
        <a:srgbClr val="EEF2F8"/>
      </a:lt2>
      <a:accent1>
        <a:srgbClr val="2563EB"/>
      </a:accent1>
      <a:accent2>
        <a:srgbClr val="0EA5E9"/>
      </a:accent2>
      <a:accent3>
        <a:srgbClr val="16A34A"/>
      </a:accent3>
      <a:accent4>
        <a:srgbClr val="F59E0B"/>
      </a:accent4>
      <a:accent5>
        <a:srgbClr val="7C3AED"/>
      </a:accent5>
      <a:accent6>
        <a:srgbClr val="C2410C"/>
      </a:accent6>
      <a:hlink>
        <a:srgbClr val="2563EB"/>
      </a:hlink>
      <a:folHlink>
        <a:srgbClr val="7C3AED"/>
      </a:folHlink>
    </a:clrScheme>
    <a:fontScheme name="Hot Desk Monito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 Desk Monitor: taking the pain out of hot desking</dc:title>
  <dc:subject>PptxGenJS Presentation</dc:subject>
  <dc:creator>Hot Desk Monitor project</dc:creator>
  <cp:lastModifiedBy>Hot Desk Monitor project</cp:lastModifiedBy>
  <cp:revision>1</cp:revision>
  <dcterms:created xsi:type="dcterms:W3CDTF">2026-10-20T09:24:24Z</dcterms:created>
  <dcterms:modified xsi:type="dcterms:W3CDTF">2026-10-20T09:24:24Z</dcterms:modified>
</cp:coreProperties>
</file>