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cc1d1ca6-3d57-cb3e-40e3-e8c82a031ea6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desking only works if people can find a free desk quickly and desks are not blocked by people who are not using them. Hot Desk Monitor tackles four pains.
1. Hunting for a free desk: instead of walking the floors, people see free desks on the live floor plan, on the office wall display, or on their phone.
2. Ghost desks: desks held by a bag, or booked and never used. Under-desk sensors see when someone leaves; the desk frees itself 20 minutes later. Reservations nobody checks in to are released 30 minutes after the slot starts, and check-ins expire unless renewed.
3. Teams scattered: occupied desks are coloured by project team, team leads can book several seats together, projects can have pre-allocated seats, and the colleague finder shows who is in and where.
4. Guesswork on space: the dashboard shows utilisation by zone and project team, and the Insights page gives a capacity outlook (currently on simulated data until real sensor data builds up).
Key figures: 125 desks on 2 floors at DIC Annex, 8 project teams, 20 minutes to free an empty desk, 3-hour default check-in. It deploys to AWS from GitHub and can be demoed in GitHub Codespaces.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Subtitle</a:t>
            </a: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Hot Desk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234440" y="384048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Hot Desk Monitor: taking the pain out of hot desking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234440" y="987552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Live sensor and check-in data for DIC Annex’s 125 hot desks, so people find a desk fast and desks never sit blocked.</a:t>
            </a:r>
            <a:endParaRPr lang="en-US" sz="1600" dirty="0"/>
          </a:p>
        </p:txBody>
      </p:sp>
      <p:sp>
        <p:nvSpPr>
          <p:cNvPr id="5" name="Pain heading"/>
          <p:cNvSpPr txBox="1"/>
          <p:nvPr/>
        </p:nvSpPr>
        <p:spPr>
          <a:xfrm>
            <a:off x="621792" y="1755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THE PAIN</a:t>
            </a:r>
            <a:endParaRPr lang="en-US" sz="1100" dirty="0"/>
          </a:p>
        </p:txBody>
      </p:sp>
      <p:sp>
        <p:nvSpPr>
          <p:cNvPr id="6" name="Fix heading"/>
          <p:cNvSpPr txBox="1"/>
          <p:nvPr/>
        </p:nvSpPr>
        <p:spPr>
          <a:xfrm>
            <a:off x="4041648" y="17556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tx2"/>
                </a:solidFill>
              </a:rPr>
              <a:t>WHAT HOT DESK MONITOR DOES</a:t>
            </a:r>
            <a:endParaRPr lang="en-US" sz="1100" dirty="0"/>
          </a:p>
        </p:txBody>
      </p:sp>
      <p:sp>
        <p:nvSpPr>
          <p:cNvPr id="7" name="Row 1"/>
          <p:cNvSpPr/>
          <p:nvPr/>
        </p:nvSpPr>
        <p:spPr>
          <a:xfrm>
            <a:off x="457200" y="205740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ain icon circle 1"/>
          <p:cNvSpPr/>
          <p:nvPr/>
        </p:nvSpPr>
        <p:spPr>
          <a:xfrm>
            <a:off x="621792" y="231343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9" name="Pain icon 1" descr="Hunting for a free des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414016"/>
            <a:ext cx="274320" cy="274320"/>
          </a:xfrm>
          <a:prstGeom prst="rect">
            <a:avLst/>
          </a:prstGeom>
        </p:spPr>
      </p:pic>
      <p:sp>
        <p:nvSpPr>
          <p:cNvPr id="10" name="Pain 1"/>
          <p:cNvSpPr txBox="1"/>
          <p:nvPr/>
        </p:nvSpPr>
        <p:spPr>
          <a:xfrm>
            <a:off x="1243584" y="214884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Hunting for a free desk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Walking the floors to find a seat</a:t>
            </a:r>
            <a:endParaRPr lang="en-US" sz="1500" dirty="0"/>
          </a:p>
        </p:txBody>
      </p:sp>
      <p:sp>
        <p:nvSpPr>
          <p:cNvPr id="11" name="Arrow 1"/>
          <p:cNvSpPr/>
          <p:nvPr/>
        </p:nvSpPr>
        <p:spPr>
          <a:xfrm>
            <a:off x="3593592" y="244144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ix icon circle 1"/>
          <p:cNvSpPr/>
          <p:nvPr/>
        </p:nvSpPr>
        <p:spPr>
          <a:xfrm>
            <a:off x="4041648" y="231343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Fix icon 1" descr="Live floor pla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2232" y="2414016"/>
            <a:ext cx="274320" cy="274320"/>
          </a:xfrm>
          <a:prstGeom prst="rect">
            <a:avLst/>
          </a:prstGeom>
        </p:spPr>
      </p:pic>
      <p:sp>
        <p:nvSpPr>
          <p:cNvPr id="14" name="Fix 1"/>
          <p:cNvSpPr txBox="1"/>
          <p:nvPr/>
        </p:nvSpPr>
        <p:spPr>
          <a:xfrm>
            <a:off x="4663440" y="214884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Live floor plan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 desks on screen, wall display and phone</a:t>
            </a:r>
            <a:endParaRPr lang="en-US" sz="1500" dirty="0"/>
          </a:p>
        </p:txBody>
      </p:sp>
      <p:sp>
        <p:nvSpPr>
          <p:cNvPr id="15" name="Row 2"/>
          <p:cNvSpPr/>
          <p:nvPr/>
        </p:nvSpPr>
        <p:spPr>
          <a:xfrm>
            <a:off x="457200" y="315468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in icon circle 2"/>
          <p:cNvSpPr/>
          <p:nvPr/>
        </p:nvSpPr>
        <p:spPr>
          <a:xfrm>
            <a:off x="621792" y="341071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17" name="Pain icon 2" descr="Ghost desks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511296"/>
            <a:ext cx="274320" cy="274320"/>
          </a:xfrm>
          <a:prstGeom prst="rect">
            <a:avLst/>
          </a:prstGeom>
        </p:spPr>
      </p:pic>
      <p:sp>
        <p:nvSpPr>
          <p:cNvPr id="18" name="Pain 2"/>
          <p:cNvSpPr txBox="1"/>
          <p:nvPr/>
        </p:nvSpPr>
        <p:spPr>
          <a:xfrm>
            <a:off x="1243584" y="324612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Ghost desks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Held by a bag, or booked and never used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3593592" y="353872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Fix icon circle 2"/>
          <p:cNvSpPr/>
          <p:nvPr/>
        </p:nvSpPr>
        <p:spPr>
          <a:xfrm>
            <a:off x="4041648" y="34107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Fix icon 2" descr="Automatic releas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511296"/>
            <a:ext cx="274320" cy="274320"/>
          </a:xfrm>
          <a:prstGeom prst="rect">
            <a:avLst/>
          </a:prstGeom>
        </p:spPr>
      </p:pic>
      <p:sp>
        <p:nvSpPr>
          <p:cNvPr id="22" name="Fix 2"/>
          <p:cNvSpPr txBox="1"/>
          <p:nvPr/>
        </p:nvSpPr>
        <p:spPr>
          <a:xfrm>
            <a:off x="4663440" y="324612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Automatic release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Freed 20 min after people leave; no-shows after 30</a:t>
            </a:r>
            <a:endParaRPr lang="en-US" sz="1500" dirty="0"/>
          </a:p>
        </p:txBody>
      </p:sp>
      <p:sp>
        <p:nvSpPr>
          <p:cNvPr id="23" name="Row 3"/>
          <p:cNvSpPr/>
          <p:nvPr/>
        </p:nvSpPr>
        <p:spPr>
          <a:xfrm>
            <a:off x="457200" y="425196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in icon circle 3"/>
          <p:cNvSpPr/>
          <p:nvPr/>
        </p:nvSpPr>
        <p:spPr>
          <a:xfrm>
            <a:off x="621792" y="450799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25" name="Pain icon 3" descr="Teams scattered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4608576"/>
            <a:ext cx="274320" cy="274320"/>
          </a:xfrm>
          <a:prstGeom prst="rect">
            <a:avLst/>
          </a:prstGeom>
        </p:spPr>
      </p:pic>
      <p:sp>
        <p:nvSpPr>
          <p:cNvPr id="26" name="Pain 3"/>
          <p:cNvSpPr txBox="1"/>
          <p:nvPr/>
        </p:nvSpPr>
        <p:spPr>
          <a:xfrm>
            <a:off x="1243584" y="434340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Teams scattered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Hard to sit together or find colleagues</a:t>
            </a:r>
            <a:endParaRPr lang="en-US" sz="1500" dirty="0"/>
          </a:p>
        </p:txBody>
      </p:sp>
      <p:sp>
        <p:nvSpPr>
          <p:cNvPr id="27" name="Arrow 3"/>
          <p:cNvSpPr/>
          <p:nvPr/>
        </p:nvSpPr>
        <p:spPr>
          <a:xfrm>
            <a:off x="3593592" y="463600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Fix icon circle 3"/>
          <p:cNvSpPr/>
          <p:nvPr/>
        </p:nvSpPr>
        <p:spPr>
          <a:xfrm>
            <a:off x="4041648" y="450799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Fix icon 3" descr="Team seating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2232" y="4608576"/>
            <a:ext cx="274320" cy="274320"/>
          </a:xfrm>
          <a:prstGeom prst="rect">
            <a:avLst/>
          </a:prstGeom>
        </p:spPr>
      </p:pic>
      <p:sp>
        <p:nvSpPr>
          <p:cNvPr id="30" name="Fix 3"/>
          <p:cNvSpPr txBox="1"/>
          <p:nvPr/>
        </p:nvSpPr>
        <p:spPr>
          <a:xfrm>
            <a:off x="4663440" y="4343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Team seating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Team colours, team bookings, colleague finder</a:t>
            </a:r>
            <a:endParaRPr lang="en-US" sz="1500" dirty="0"/>
          </a:p>
        </p:txBody>
      </p:sp>
      <p:sp>
        <p:nvSpPr>
          <p:cNvPr id="31" name="Row 4"/>
          <p:cNvSpPr/>
          <p:nvPr/>
        </p:nvSpPr>
        <p:spPr>
          <a:xfrm>
            <a:off x="457200" y="5349240"/>
            <a:ext cx="6720840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Pain icon circle 4"/>
          <p:cNvSpPr/>
          <p:nvPr/>
        </p:nvSpPr>
        <p:spPr>
          <a:xfrm>
            <a:off x="621792" y="5605272"/>
            <a:ext cx="475488" cy="475488"/>
          </a:xfrm>
          <a:prstGeom prst="ellipse">
            <a:avLst/>
          </a:prstGeom>
          <a:solidFill>
            <a:schemeClr val="accent6">
              <a:alpha val="15000"/>
            </a:schemeClr>
          </a:solidFill>
          <a:ln w="12700">
            <a:solidFill>
              <a:schemeClr val="accent6">
                <a:alpha val="15000"/>
              </a:schemeClr>
            </a:solidFill>
            <a:prstDash val="solid"/>
          </a:ln>
        </p:spPr>
      </p:sp>
      <p:pic>
        <p:nvPicPr>
          <p:cNvPr id="33" name="Pain icon 4" descr="Guesswork on spac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" y="5705856"/>
            <a:ext cx="274320" cy="274320"/>
          </a:xfrm>
          <a:prstGeom prst="rect">
            <a:avLst/>
          </a:prstGeom>
        </p:spPr>
      </p:pic>
      <p:sp>
        <p:nvSpPr>
          <p:cNvPr id="34" name="Pain 4"/>
          <p:cNvSpPr txBox="1"/>
          <p:nvPr/>
        </p:nvSpPr>
        <p:spPr>
          <a:xfrm>
            <a:off x="1243584" y="5440680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Guesswork on space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No data on how desks are really used</a:t>
            </a:r>
            <a:endParaRPr lang="en-US" sz="1500" dirty="0"/>
          </a:p>
        </p:txBody>
      </p:sp>
      <p:sp>
        <p:nvSpPr>
          <p:cNvPr id="35" name="Arrow 4"/>
          <p:cNvSpPr/>
          <p:nvPr/>
        </p:nvSpPr>
        <p:spPr>
          <a:xfrm>
            <a:off x="3593592" y="5733288"/>
            <a:ext cx="292608" cy="219456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Fix icon circle 4"/>
          <p:cNvSpPr/>
          <p:nvPr/>
        </p:nvSpPr>
        <p:spPr>
          <a:xfrm>
            <a:off x="4041648" y="560527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Fix icon 4" descr="Usage insight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2232" y="5705856"/>
            <a:ext cx="274320" cy="274320"/>
          </a:xfrm>
          <a:prstGeom prst="rect">
            <a:avLst/>
          </a:prstGeom>
        </p:spPr>
      </p:pic>
      <p:sp>
        <p:nvSpPr>
          <p:cNvPr id="38" name="Fix 4"/>
          <p:cNvSpPr txBox="1"/>
          <p:nvPr/>
        </p:nvSpPr>
        <p:spPr>
          <a:xfrm>
            <a:off x="4663440" y="54406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Usage insights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Utilisation by zone and team, capacity outlook</a:t>
            </a:r>
            <a:endParaRPr lang="en-US" sz="1500" dirty="0"/>
          </a:p>
        </p:txBody>
      </p:sp>
      <p:sp>
        <p:nvSpPr>
          <p:cNvPr id="39" name="Screenshot frame"/>
          <p:cNvSpPr/>
          <p:nvPr/>
        </p:nvSpPr>
        <p:spPr>
          <a:xfrm>
            <a:off x="7452360" y="1783080"/>
            <a:ext cx="4325112" cy="2737485"/>
          </a:xfrm>
          <a:prstGeom prst="roundRect">
            <a:avLst>
              <a:gd name="adj" fmla="val 2004"/>
            </a:avLst>
          </a:prstGeom>
          <a:solidFill>
            <a:schemeClr val="bg2"/>
          </a:solidFill>
          <a:ln w="9525">
            <a:solidFill>
              <a:srgbClr val="D6DEEA"/>
            </a:solidFill>
            <a:prstDash val="solid"/>
          </a:ln>
          <a:effectLst>
            <a:outerShdw sx="100000" sy="100000" kx="0" ky="0" algn="bl" rotWithShape="0" blurRad="101600" dist="38100" dir="5400000">
              <a:srgbClr val="0F1E3D">
                <a:alpha val="18000"/>
              </a:srgbClr>
            </a:outerShdw>
          </a:effectLst>
        </p:spPr>
      </p:sp>
      <p:pic>
        <p:nvPicPr>
          <p:cNvPr id="40" name="Dashboard screenshot" descr="Admin dashboard: live floor plan coloured by project team, KPI cards and the colleague find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1828800"/>
            <a:ext cx="4233672" cy="2646045"/>
          </a:xfrm>
          <a:prstGeom prst="rect">
            <a:avLst/>
          </a:prstGeom>
        </p:spPr>
      </p:pic>
      <p:sp>
        <p:nvSpPr>
          <p:cNvPr id="41" name="Screenshot caption"/>
          <p:cNvSpPr txBox="1"/>
          <p:nvPr/>
        </p:nvSpPr>
        <p:spPr>
          <a:xfrm>
            <a:off x="7498080" y="4584573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 dashboard (demo data), coloured by project team</a:t>
            </a:r>
            <a:endParaRPr lang="en-US" sz="1100" dirty="0"/>
          </a:p>
        </p:txBody>
      </p:sp>
      <p:sp>
        <p:nvSpPr>
          <p:cNvPr id="42" name="Figure card 1"/>
          <p:cNvSpPr/>
          <p:nvPr/>
        </p:nvSpPr>
        <p:spPr>
          <a:xfrm>
            <a:off x="7498080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Figure 1"/>
          <p:cNvSpPr txBox="1"/>
          <p:nvPr/>
        </p:nvSpPr>
        <p:spPr>
          <a:xfrm>
            <a:off x="7662672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125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desks on 2 floors</a:t>
            </a:r>
            <a:endParaRPr lang="en-US" sz="2200" dirty="0"/>
          </a:p>
        </p:txBody>
      </p:sp>
      <p:sp>
        <p:nvSpPr>
          <p:cNvPr id="44" name="Figure card 2"/>
          <p:cNvSpPr/>
          <p:nvPr/>
        </p:nvSpPr>
        <p:spPr>
          <a:xfrm>
            <a:off x="9706356" y="4873752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Figure 2"/>
          <p:cNvSpPr txBox="1"/>
          <p:nvPr/>
        </p:nvSpPr>
        <p:spPr>
          <a:xfrm>
            <a:off x="9870948" y="4873752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project teams</a:t>
            </a:r>
            <a:endParaRPr lang="en-US" sz="2200" dirty="0"/>
          </a:p>
        </p:txBody>
      </p:sp>
      <p:sp>
        <p:nvSpPr>
          <p:cNvPr id="46" name="Figure card 3"/>
          <p:cNvSpPr/>
          <p:nvPr/>
        </p:nvSpPr>
        <p:spPr>
          <a:xfrm>
            <a:off x="7498080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Figure 3"/>
          <p:cNvSpPr txBox="1"/>
          <p:nvPr/>
        </p:nvSpPr>
        <p:spPr>
          <a:xfrm>
            <a:off x="7662672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 free an empty desk</a:t>
            </a:r>
            <a:endParaRPr lang="en-US" sz="2200" dirty="0"/>
          </a:p>
        </p:txBody>
      </p:sp>
      <p:sp>
        <p:nvSpPr>
          <p:cNvPr id="48" name="Figure card 4"/>
          <p:cNvSpPr/>
          <p:nvPr/>
        </p:nvSpPr>
        <p:spPr>
          <a:xfrm>
            <a:off x="9706356" y="5678424"/>
            <a:ext cx="2025396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Figure 4"/>
          <p:cNvSpPr txBox="1"/>
          <p:nvPr/>
        </p:nvSpPr>
        <p:spPr>
          <a:xfrm>
            <a:off x="9870948" y="5678424"/>
            <a:ext cx="17510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 h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default check-in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t Desk Monitor">
  <a:themeElements>
    <a:clrScheme name="Hot Desk Monitor">
      <a:dk1>
        <a:srgbClr val="0F1E3D"/>
      </a:dk1>
      <a:lt1>
        <a:srgbClr val="FFFFFF"/>
      </a:lt1>
      <a:dk2>
        <a:srgbClr val="475569"/>
      </a:dk2>
      <a:lt2>
        <a:srgbClr val="EEF2F8"/>
      </a:lt2>
      <a:accent1>
        <a:srgbClr val="2563EB"/>
      </a:accent1>
      <a:accent2>
        <a:srgbClr val="0EA5E9"/>
      </a:accent2>
      <a:accent3>
        <a:srgbClr val="16A34A"/>
      </a:accent3>
      <a:accent4>
        <a:srgbClr val="F59E0B"/>
      </a:accent4>
      <a:accent5>
        <a:srgbClr val="7C3AED"/>
      </a:accent5>
      <a:accent6>
        <a:srgbClr val="C2410C"/>
      </a:accent6>
      <a:hlink>
        <a:srgbClr val="2563EB"/>
      </a:hlink>
      <a:folHlink>
        <a:srgbClr val="7C3AED"/>
      </a:folHlink>
    </a:clrScheme>
    <a:fontScheme name="Hot Desk Monito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 Desk Monitor: taking the pain out of hot desking</dc:title>
  <dc:subject>PptxGenJS Presentation</dc:subject>
  <dc:creator>Hot Desk Monitor project</dc:creator>
  <cp:lastModifiedBy>Hot Desk Monitor project</cp:lastModifiedBy>
  <cp:revision>1</cp:revision>
  <dcterms:created xsi:type="dcterms:W3CDTF">2026-10-20T08:56:14Z</dcterms:created>
  <dcterms:modified xsi:type="dcterms:W3CDTF">2026-10-20T08:56:14Z</dcterms:modified>
</cp:coreProperties>
</file>